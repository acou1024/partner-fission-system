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768" y="86"/>
      </p:cViewPr>
      <p:guideLst>
        <p:guide orient="horz" pos="212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4.png"/><Relationship Id="rId27" Type="http://schemas.openxmlformats.org/officeDocument/2006/relationships/tags" Target="../tags/tag24.xml"/><Relationship Id="rId26" Type="http://schemas.openxmlformats.org/officeDocument/2006/relationships/image" Target="../media/image3.png"/><Relationship Id="rId25" Type="http://schemas.openxmlformats.org/officeDocument/2006/relationships/tags" Target="../tags/tag23.xml"/><Relationship Id="rId24" Type="http://schemas.openxmlformats.org/officeDocument/2006/relationships/image" Target="../media/image2.png"/><Relationship Id="rId23" Type="http://schemas.openxmlformats.org/officeDocument/2006/relationships/tags" Target="../tags/tag22.xml"/><Relationship Id="rId22" Type="http://schemas.openxmlformats.org/officeDocument/2006/relationships/image" Target="../media/image1.png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389120"/>
            <a:ext cx="4572000" cy="4572000"/>
          </a:xfrm>
          <a:prstGeom prst="ellipse">
            <a:avLst/>
          </a:prstGeom>
          <a:solidFill>
            <a:srgbClr val="1D4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1D4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-91440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822960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私域合伙人裂变与分销核算系统</a:t>
            </a:r>
            <a:endParaRPr sz="40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Partner Fission &amp; Commission Accounting System</a:t>
            </a:r>
            <a:endParaRPr sz="15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5840" y="3154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015" y="3666744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 err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课程名称</a:t>
            </a:r>
            <a:r>
              <a:rPr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sz="140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90495" y="3675887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 err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软件工程综合实践</a:t>
            </a:r>
            <a:endParaRPr sz="1400" b="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400507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 err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学生姓名</a:t>
            </a:r>
            <a:r>
              <a:rPr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sz="140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90495" y="4050790"/>
            <a:ext cx="5486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叶俊贤 吴自有 董仲轩</a:t>
            </a:r>
            <a:endParaRPr sz="1400" b="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" y="436168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指导教师：</a:t>
            </a:r>
            <a:endParaRPr sz="1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06040" y="4361688"/>
            <a:ext cx="5486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袁伟镇</a:t>
            </a:r>
            <a:endParaRPr sz="1400" b="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4672583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学    院：</a:t>
            </a:r>
            <a:endParaRPr sz="1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06040" y="4672583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计算机科学与工程学院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" y="4983479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专    业：</a:t>
            </a:r>
            <a:endParaRPr sz="1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06040" y="4983479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560" y="5294375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答辩日期：</a:t>
            </a:r>
            <a:endParaRPr sz="1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06040" y="5294375"/>
            <a:ext cx="5486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2026年6月</a:t>
            </a:r>
            <a:r>
              <a:rPr lang="en-US" altLang="zh-CN" sz="14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r>
              <a:rPr sz="1400" b="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sz="1400" b="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汇报提纲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AGENDA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2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188720"/>
            <a:ext cx="658368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52728"/>
            <a:ext cx="658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1143000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项目背景与意义</a:t>
            </a:r>
            <a:endParaRPr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4480" y="14630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业务痛点分析、研究价值与实践意义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1901952"/>
            <a:ext cx="658368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65960"/>
            <a:ext cx="658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54480" y="1856232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需求分析</a:t>
            </a:r>
            <a:endParaRPr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54480" y="217627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三类用户角色、功能需求、用例分析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2615184"/>
            <a:ext cx="658368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79192"/>
            <a:ext cx="658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54480" y="2569464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系统设计</a:t>
            </a:r>
            <a:endParaRPr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54480" y="2889504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整体架构设计、数据库ER设计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" y="3328416"/>
            <a:ext cx="658368" cy="5029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92424"/>
            <a:ext cx="658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54480" y="328269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关键技术实现</a:t>
            </a:r>
            <a:endParaRPr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4480" y="3602736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佣金核算算法、Excel智能匹配、倍投推演引擎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5800" y="4041648"/>
            <a:ext cx="658368" cy="5029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105656"/>
            <a:ext cx="658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54480" y="3995928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核心功能展示</a:t>
            </a:r>
            <a:endParaRPr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54480" y="431596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管理后台、移动端H5、典型业务流程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85800" y="4754880"/>
            <a:ext cx="658368" cy="5029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818888"/>
            <a:ext cx="658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54480" y="4709160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测试与质量验证</a:t>
            </a:r>
            <a:endParaRPr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54480" y="50292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测试策略、结果统计、文档交付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85800" y="5468112"/>
            <a:ext cx="658368" cy="5029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32120"/>
            <a:ext cx="658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54480" y="5422392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554480" y="57424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技术收获、创新亮点、改进方向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0241280" y="493776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0" y="553212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7 大章节
全面汇报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一、项目背景与意义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1.1 行业痛点 - 私域运营的4个核心问题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3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44068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544068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371600"/>
            <a:ext cx="868680" cy="38404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08176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痛点1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1874519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客户归属管理混乱</a:t>
            </a:r>
            <a:endParaRPr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2377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合伙人拉新客户无记录，归属纠纷频发
缺乏报备机制，客户被重复抢夺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1143000"/>
            <a:ext cx="544068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4406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1371600"/>
            <a:ext cx="868680" cy="384048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08176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痛点2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0" y="1874519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佣金核算工作量大</a:t>
            </a:r>
            <a:endParaRPr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直推/团队佣金靠人工Excel计算，易出错
月底结算耗时长，合伙人满意度低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1480" y="3886200"/>
            <a:ext cx="544068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886200"/>
            <a:ext cx="54406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114800"/>
            <a:ext cx="868680" cy="38404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51376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痛点3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46177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数据割裂决策困难</a:t>
            </a:r>
            <a:endParaRPr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51206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流水、佣金、结算数据分散在多个表格
缺乏可视化大盘，管理者难掌握全局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309360" y="3886200"/>
            <a:ext cx="544068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886200"/>
            <a:ext cx="5440680" cy="640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37960" y="4114800"/>
            <a:ext cx="868680" cy="384048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151376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痛点4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83680" y="46177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缺少营销辅助工具</a:t>
            </a:r>
            <a:endParaRPr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0" y="51206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合伙人开发客户缺少话术素材支持
缺乏风险预警和资金规划工具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一、项目背景与意义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1.2 项目价值 - 理论价值 + 实践价值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4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57784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557784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理论价值</a:t>
            </a:r>
            <a:endParaRPr sz="2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400"/>
              </a:spcBef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■  完整实践软件工程全生命周期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      需求→设计→开发→测试→部署文档全流程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400"/>
              </a:spcBef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■  深入掌握前后端分离架构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      Vue3 + Express + MySQL分层架构设计实践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400"/>
              </a:spcBef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■  研究二级分销佣金分配算法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      探索合规分销模型，数据层+算法层双重限制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400"/>
              </a:spcBef>
              <a:spcAft>
                <a:spcPts val="300"/>
              </a:spcAft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■  规范文档与UML建模能力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      用例图、ER图、时序图、活动图8张专业UML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9632" y="1143000"/>
            <a:ext cx="557784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143000"/>
            <a:ext cx="557784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实践价值</a:t>
            </a:r>
            <a:endParaRPr sz="22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0" y="2057400"/>
            <a:ext cx="2468880" cy="14630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468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85%</a:t>
            </a:r>
            <a:endParaRPr sz="30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299008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佣金核算效率较人工提升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89720" y="2057400"/>
            <a:ext cx="2468880" cy="14630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148840"/>
            <a:ext cx="2468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5-10×</a:t>
            </a:r>
            <a:endParaRPr sz="30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81160" y="299008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Excel批量导入vs手工录入提速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0" y="3794760"/>
            <a:ext cx="2468880" cy="14630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886200"/>
            <a:ext cx="2468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30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472744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二级合规(无多级分销风险)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189720" y="3794760"/>
            <a:ext cx="2468880" cy="14630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886200"/>
            <a:ext cx="2468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实时</a:t>
            </a:r>
            <a:endParaRPr sz="30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81160" y="472744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可视化数据大盘辅助决策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0" y="5486400"/>
            <a:ext cx="5257800" cy="731520"/>
          </a:xfrm>
          <a:prstGeom prst="roundRect">
            <a:avLst>
              <a:gd name="adj" fmla="val 3000"/>
            </a:avLst>
          </a:prstGeom>
          <a:solidFill>
            <a:srgbClr val="ECDFFF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650992"/>
            <a:ext cx="5257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核心收益：降本、增效、合规、透明</a:t>
            </a:r>
            <a:endParaRPr sz="15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二、需求分析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2.1 三类用户角色 - 三级权限体系，职责隔离清晰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5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234440"/>
            <a:ext cx="370332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89888"/>
            <a:ext cx="3703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超级管理员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1993392"/>
            <a:ext cx="3703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1人 / 全部权限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系统全局配置管理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员工账号创建分配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域名/操作日志管理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冻结异常合伙人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51960" y="1234440"/>
            <a:ext cx="370332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23444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389888"/>
            <a:ext cx="3703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普通员工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51960" y="1993392"/>
            <a:ext cx="3703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多名 / 运营功能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0560" y="288036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分管合伙人名下客户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客户报备审核通过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流水录入+Excel导入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结算出款操作执行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92440" y="1234440"/>
            <a:ext cx="370332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123444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389888"/>
            <a:ext cx="3703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合伙人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92440" y="1993392"/>
            <a:ext cx="3703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C端大量 / 移动端H5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21040" y="288036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查看佣金/余额/流水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客户报备+团队数据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动态倍投精算工具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700"/>
              </a:spcAft>
            </a:pPr>
            <a:r>
              <a:rPr sz="14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素材话术风控知识库</a:t>
            </a:r>
            <a:endParaRPr sz="14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※ 权限隔离：员工/管理员共用后台，菜单自动隐藏；合伙人仅通过移动端访问个人工作台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二、需求分析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2.2 功能模块总览 - 后台18模块 + 移动端16模块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6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078992"/>
            <a:ext cx="571500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78992"/>
            <a:ext cx="57150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52144"/>
            <a:ext cx="5715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管理后台 (18个功能模块)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1810512"/>
            <a:ext cx="5349240" cy="15087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74519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数据与核算</a:t>
            </a:r>
            <a:endParaRPr sz="1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4672" y="2231136"/>
            <a:ext cx="50292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 数据大盘(ECharts图表)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 流水录入(单条/Excel/归档)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 方案赔率配置/复制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 客户盈亏分析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438144"/>
            <a:ext cx="5349240" cy="15087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02151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业务管理</a:t>
            </a:r>
            <a:endParaRPr sz="14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4672" y="3858768"/>
            <a:ext cx="50292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 合伙人/客户/报备管理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 手工账本记录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 结算出款操作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 月度汇总报表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5065775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29783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支撑系统(管理员专属)</a:t>
            </a:r>
            <a:endParaRPr sz="14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4672" y="548639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 素材/话术/Q&amp;A/风控字典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 员工/域名/操作日志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36208" y="1078992"/>
            <a:ext cx="5596128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1078992"/>
            <a:ext cx="55961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152144"/>
            <a:ext cx="5596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移动端H5 合伙人端 (16个功能模块)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46520" y="17830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700"/>
              </a:spcBef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工作台首页（8核心指标卡+8快捷入口）</a:t>
            </a:r>
            <a:endParaRPr sz="13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700"/>
              </a:spcBef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客户管理：报备/客户列表</a:t>
            </a:r>
            <a:endParaRPr sz="13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700"/>
              </a:spcBef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财务相关：佣金明细/结算记录/往期流水</a:t>
            </a:r>
            <a:endParaRPr sz="13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700"/>
              </a:spcBef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我的团队：二级分销业绩展示</a:t>
            </a:r>
            <a:endParaRPr sz="13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700"/>
              </a:spcBef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【特色工具】动态倍投精算表（3策略）</a:t>
            </a:r>
            <a:endParaRPr sz="13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700"/>
              </a:spcBef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知识库：营销素材/话术/Q&amp;A/风控字典</a:t>
            </a:r>
            <a:endParaRPr sz="13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700"/>
              </a:spcBef>
              <a:spcAft>
                <a:spcPts val="500"/>
              </a:spcAft>
            </a:pPr>
            <a:r>
              <a:rPr sz="13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个人中心 + 微信绑定授权</a:t>
            </a:r>
            <a:endParaRPr sz="13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549640" y="5623560"/>
            <a:ext cx="3063240" cy="5486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56692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★ 完整业务闭环：客户→流水→算佣→结算→运营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三、系统设计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3.1 整体架构 - 前后端分离 + 分层架构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7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" y="1170432"/>
            <a:ext cx="2249424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170432"/>
            <a:ext cx="2249424" cy="5303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225296"/>
            <a:ext cx="22494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客户端层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Vue3 + Element Plus(管理)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Vue3 + Vant4(移动H5)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615184" y="3474720"/>
            <a:ext cx="292608" cy="457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98648" y="1170432"/>
            <a:ext cx="2249424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98648" y="1170432"/>
            <a:ext cx="2249424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1225296"/>
            <a:ext cx="22494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网关/反向代理层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175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Nginx 静态资源分发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API反向代理 + SSL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5166359" y="3474720"/>
            <a:ext cx="292608" cy="457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49824" y="1170432"/>
            <a:ext cx="2249424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49824" y="1170432"/>
            <a:ext cx="2249424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9824" y="1225296"/>
            <a:ext cx="22494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应用服务层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68696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Express.js + 中间件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(JWT/日志/CORS/操作审计)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40+ RESTful API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7717536" y="3474720"/>
            <a:ext cx="292608" cy="457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01000" y="1170432"/>
            <a:ext cx="2249424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1170432"/>
            <a:ext cx="2249424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225296"/>
            <a:ext cx="22494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数据访问层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19872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Prisma ORM 类型安全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事务 ACID 保证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10268712" y="3474720"/>
            <a:ext cx="292608" cy="457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52176" y="1170432"/>
            <a:ext cx="2249424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52176" y="1170432"/>
            <a:ext cx="2249424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52176" y="1225296"/>
            <a:ext cx="22494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数据存储层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671048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MySQL 8.0 (17张业务表)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Redis 7.x (Token/缓存)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11480" y="6217920"/>
            <a:ext cx="11384280" cy="420624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245352"/>
            <a:ext cx="11384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技术栈：Vue3 | Vite | Pinia | Axios | ECharts | Express | Prisma | MySQL | Redis | JWT | bcrypt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三、系统设计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3.2 数据库设计 - ER关系图(17张表 / 90+字段 / 8个外键)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8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■ 核心实体关系图 （插入 PlantUML【图3】- 数据库ER图 PNG）</a:t>
            </a:r>
            <a:endParaRPr sz="1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1508760"/>
            <a:ext cx="1133856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110642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员工表(SysUser) 1 ─── N 合伙人表(Partner)
                          │ 自关联 parent_id 二级分销
                          ▼
合伙人表(Partner) 1 ─── N 客户表(Customer)
      │                            │
      │ N                          │ N
      ▼                            ▼
佣金表(Commission)  N ─── 1 交易表(Transaction)
      │
      │ N
      ▼
结算表(Settlement)</a:t>
            </a:r>
            <a:endParaRPr sz="17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507492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【替换上方内容】将 PlantUML生成的PNG图复制到此框内即可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1480" y="557784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64184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① 合伙人parent_id自关联实现严格二级分销（最多两层）    ② 佣金type字段区分direct(直推) / team(团队)    ③ 所有金额DECIMAL(12,2)避免浮点精度丢失    ④ partner_id/status/date 等查询列全部建立索引优化</a:t>
            </a:r>
            <a:endParaRPr sz="11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四、关键技术实现1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佣金自动核算算法 - 事务保证 + 二级限制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9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7040880" cy="534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算法流程  (输入：交易ID、客户ID、投注金额amount)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40080" y="1783080"/>
            <a:ext cx="603504" cy="6035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6035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44752" y="1883664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查询客户归属合伙人 P</a:t>
            </a:r>
            <a:endParaRPr sz="1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804672" y="2441448"/>
            <a:ext cx="274320" cy="20116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587752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88336"/>
            <a:ext cx="6035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44752" y="2688336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计算直推佣金 direct_amt = amount × P.directRate%</a:t>
            </a:r>
            <a:endParaRPr sz="1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804672" y="3246120"/>
            <a:ext cx="274320" cy="20116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92424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93008"/>
            <a:ext cx="6035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44752" y="3493008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写入commission表(type=direct)，更新P.balance</a:t>
            </a:r>
            <a:endParaRPr sz="1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804672" y="4050791"/>
            <a:ext cx="274320" cy="20116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197096"/>
            <a:ext cx="603504" cy="6035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6035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44752" y="429768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检查 P.parentId 是否存在上级？</a:t>
            </a:r>
            <a:endParaRPr sz="1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804672" y="4855464"/>
            <a:ext cx="274320" cy="20116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001768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02352"/>
            <a:ext cx="6035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44752" y="5102352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是：团队佣金 team_amt = amount × UP.teamRate% 写入</a:t>
            </a:r>
            <a:endParaRPr sz="1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Down Arrow 29"/>
          <p:cNvSpPr/>
          <p:nvPr/>
        </p:nvSpPr>
        <p:spPr>
          <a:xfrm>
            <a:off x="804672" y="5660136"/>
            <a:ext cx="274320" cy="20116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5806440"/>
            <a:ext cx="603504" cy="6035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907024"/>
            <a:ext cx="6035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44752" y="5907024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数据库事务整体 COMMIT 保证ACID</a:t>
            </a:r>
            <a:endParaRPr sz="1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71231" y="1115568"/>
            <a:ext cx="4251960" cy="534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4112" y="118872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设计挑战与对策</a:t>
            </a:r>
            <a:endParaRPr sz="16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54112" y="1783080"/>
            <a:ext cx="3886200" cy="1005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1828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挑战①  一笔交易同时算直推+团队佣金</a:t>
            </a:r>
            <a:endParaRPr sz="12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863840" y="2167128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对策：同事务包裹，原子性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754112" y="2898648"/>
            <a:ext cx="3886200" cy="1005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94436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挑战②  避免佣金重复计算</a:t>
            </a:r>
            <a:endParaRPr sz="12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63840" y="3282696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对策：唯一约束+幂等校验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754112" y="4014215"/>
            <a:ext cx="3886200" cy="1005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4059935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挑战③  二级合规禁止多级</a:t>
            </a:r>
            <a:endParaRPr sz="12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863840" y="4398264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对策：仅算一级上级不递归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754112" y="5129783"/>
            <a:ext cx="3886200" cy="1005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5175503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挑战④  高并发余额一致性</a:t>
            </a:r>
            <a:endParaRPr sz="12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863840" y="5513831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对策：行级锁+余额乐观锁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四、关键技术实现2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Excel智能匹配导入引擎 - 4级匹配+3步弹窗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10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三步式导入流程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1627632"/>
            <a:ext cx="37033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627632"/>
            <a:ext cx="370332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91640"/>
            <a:ext cx="3703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Step 1 上传解析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Excel+选择日期</a:t>
            </a:r>
            <a:endParaRPr sz="12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88" y="2679192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XLSX多工作表解析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自动跳过标题行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列：昵称/金额/方案/备注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4142232" y="2880360"/>
            <a:ext cx="310896" cy="5029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53128" y="1627632"/>
            <a:ext cx="37033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53128" y="1627632"/>
            <a:ext cx="370332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1691640"/>
            <a:ext cx="3703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Step 2 智能匹配预览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36008" y="2286000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4级优先级匹配</a:t>
            </a:r>
            <a:endParaRPr sz="12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45736" y="2679192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①完全相等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②忽略大小写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③trim去空格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④包含关系匹配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8183879" y="2880360"/>
            <a:ext cx="310896" cy="5029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94776" y="1627632"/>
            <a:ext cx="37033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94776" y="1627632"/>
            <a:ext cx="370332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94776" y="1691640"/>
            <a:ext cx="3703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Step 3 批量写入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77655" y="2286000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事务入库+自动算佣</a:t>
            </a:r>
            <a:endParaRPr sz="12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87384" y="2679192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已匹配→批量入库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未匹配→单独列出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同步触发算佣事务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1480" y="4892040"/>
            <a:ext cx="1133856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102352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38928"/>
            <a:ext cx="1828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≥ 95%</a:t>
            </a:r>
            <a:endParaRPr sz="32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514600" y="5440680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智能匹配准确率</a:t>
            </a:r>
            <a:endParaRPr sz="13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16552" y="5102352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2" y="5138928"/>
            <a:ext cx="1828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&lt; 2 秒</a:t>
            </a:r>
            <a:endParaRPr sz="3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91072" y="5440680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100条数据总耗时</a:t>
            </a:r>
            <a:endParaRPr sz="13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193024" y="5102352"/>
            <a:ext cx="3520440" cy="109728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4" y="5138928"/>
            <a:ext cx="1828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5 - 10 ×</a:t>
            </a:r>
            <a:endParaRPr sz="3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067544" y="5440680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较手工录入效率</a:t>
            </a:r>
            <a:endParaRPr sz="13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四、关键技术实现3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动态倍投精算引擎 - 3种策略+实时推演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11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" y="1097280"/>
            <a:ext cx="768096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70432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三种业内主流倍投策略  (起始10元 / 5期示例)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554480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1051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策略名称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57400" y="1737360"/>
            <a:ext cx="1097280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181051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适用赔率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54680" y="1737360"/>
            <a:ext cx="1920240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81051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计算公式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74920" y="1737360"/>
            <a:ext cx="2743200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810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投入序列示例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2240280"/>
            <a:ext cx="15544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32888"/>
            <a:ext cx="1463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1.0 3倍投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057400" y="2240280"/>
            <a:ext cx="10972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2532888"/>
            <a:ext cx="1005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赔率 ≈ 1.6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154680" y="2240280"/>
            <a:ext cx="1920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253288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f(n)=f(n-1)×3</a:t>
            </a:r>
            <a:endParaRPr sz="12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74920" y="2240280"/>
            <a:ext cx="2743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53288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 → 30 → 90 → 270 → 810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2920" y="3319272"/>
            <a:ext cx="155448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11879"/>
            <a:ext cx="1463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2.0 2n+1倍投</a:t>
            </a:r>
            <a:endParaRPr sz="12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57400" y="3319272"/>
            <a:ext cx="109728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03120" y="3611879"/>
            <a:ext cx="1005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赔率 ≈ 2.0</a:t>
            </a:r>
            <a:endParaRPr sz="12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154680" y="3319272"/>
            <a:ext cx="192024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3611879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f(n)=2×累计+起始</a:t>
            </a:r>
            <a:endParaRPr sz="12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74920" y="3319272"/>
            <a:ext cx="274320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611879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 → 30 → 70 → 150 → 310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2920" y="4398264"/>
            <a:ext cx="15544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690872"/>
            <a:ext cx="1463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3.0 2倍投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057400" y="4398264"/>
            <a:ext cx="10972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4690872"/>
            <a:ext cx="1005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赔率 ≥ 3.0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154680" y="4398264"/>
            <a:ext cx="1920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469087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f(n)=f(n-1)×2</a:t>
            </a:r>
            <a:endParaRPr sz="12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074920" y="4398264"/>
            <a:ext cx="27432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469087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 → 20 → 40 → 80 → 160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2920" y="559612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每期输出5项核心指标：本期投入 / 累计成本 / 预计收回 / 中奖纯利 / 回本高亮提示</a:t>
            </a:r>
            <a:endParaRPr sz="12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183879" y="1097280"/>
            <a:ext cx="361188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83879" y="1097280"/>
            <a:ext cx="3611880" cy="65836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1152144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功能定位与价值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39327" y="1874519"/>
            <a:ext cx="3337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600"/>
              </a:spcBef>
              <a:spcAft>
                <a:spcPts val="300"/>
              </a:spcAft>
            </a:pPr>
            <a:r>
              <a:rPr sz="13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■ 什么时候使用？</a:t>
            </a:r>
            <a:endParaRPr sz="13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开始一轮投注之前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评估连黑N期资金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对比不同策略风险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600"/>
              </a:spcBef>
              <a:spcAft>
                <a:spcPts val="300"/>
              </a:spcAft>
            </a:pPr>
            <a:r>
              <a:rPr sz="13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■ 核心价值</a:t>
            </a:r>
            <a:endParaRPr sz="13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最坏情况资金压力测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投入产出一目了然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帮助合伙人量力而行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600"/>
              </a:spcBef>
              <a:spcAft>
                <a:spcPts val="300"/>
              </a:spcAft>
            </a:pPr>
            <a:r>
              <a:rPr sz="13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■ 技术特点</a:t>
            </a:r>
            <a:endParaRPr sz="13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前端实时算(&lt;50ms)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参数变动立即响应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无需请求后端API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五、核心功能展示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5.1 管理后台 - 4张核心页面截图占位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12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365760" y="1097280"/>
            <a:ext cx="5623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365760" y="1097280"/>
            <a:ext cx="5623560" cy="4389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475488" y="114300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数据大盘 Dashboard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530352" y="2029967"/>
            <a:ext cx="52943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【请在此插入系统运行截图】</a:t>
            </a:r>
            <a:endParaRPr sz="14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475488" y="3182112"/>
            <a:ext cx="5404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6个KPI卡 + 折线/饼/柱状 ECharts 图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6"/>
            </p:custDataLst>
          </p:nvPr>
        </p:nvSpPr>
        <p:spPr>
          <a:xfrm>
            <a:off x="6217920" y="1097280"/>
            <a:ext cx="5623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7"/>
            </p:custDataLst>
          </p:nvPr>
        </p:nvSpPr>
        <p:spPr>
          <a:xfrm>
            <a:off x="6217920" y="1097280"/>
            <a:ext cx="5623560" cy="4389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6327648" y="114300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流水录入 Transactions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6382512" y="2029967"/>
            <a:ext cx="52943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【请在此插入系统运行截图】</a:t>
            </a:r>
            <a:endParaRPr sz="14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6327648" y="3182112"/>
            <a:ext cx="5404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单条录入 / Excel三步导入 / 归档按钮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11"/>
            </p:custDataLst>
          </p:nvPr>
        </p:nvSpPr>
        <p:spPr>
          <a:xfrm>
            <a:off x="365760" y="3840480"/>
            <a:ext cx="5623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2"/>
            </p:custDataLst>
          </p:nvPr>
        </p:nvSpPr>
        <p:spPr>
          <a:xfrm>
            <a:off x="365760" y="3840480"/>
            <a:ext cx="5623560" cy="4389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3"/>
            </p:custDataLst>
          </p:nvPr>
        </p:nvSpPr>
        <p:spPr>
          <a:xfrm>
            <a:off x="475488" y="388620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合伙人管理 Partners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4"/>
            </p:custDataLst>
          </p:nvPr>
        </p:nvSpPr>
        <p:spPr>
          <a:xfrm>
            <a:off x="530352" y="4773168"/>
            <a:ext cx="52943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【请在此插入系统运行截图】</a:t>
            </a:r>
            <a:endParaRPr sz="14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5"/>
            </p:custDataLst>
          </p:nvPr>
        </p:nvSpPr>
        <p:spPr>
          <a:xfrm>
            <a:off x="475488" y="5925312"/>
            <a:ext cx="5404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CRUD+分润配置+冻结+邀请二维码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>
            <p:custDataLst>
              <p:tags r:id="rId16"/>
            </p:custDataLst>
          </p:nvPr>
        </p:nvSpPr>
        <p:spPr>
          <a:xfrm>
            <a:off x="6217920" y="3840480"/>
            <a:ext cx="5623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>
            <p:custDataLst>
              <p:tags r:id="rId17"/>
            </p:custDataLst>
          </p:nvPr>
        </p:nvSpPr>
        <p:spPr>
          <a:xfrm>
            <a:off x="6217920" y="3840480"/>
            <a:ext cx="5623560" cy="43891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>
            <p:custDataLst>
              <p:tags r:id="rId18"/>
            </p:custDataLst>
          </p:nvPr>
        </p:nvSpPr>
        <p:spPr>
          <a:xfrm>
            <a:off x="6327648" y="388620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结算管理 Settlements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19"/>
            </p:custDataLst>
          </p:nvPr>
        </p:nvSpPr>
        <p:spPr>
          <a:xfrm>
            <a:off x="6382512" y="4773168"/>
            <a:ext cx="52943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【请在此插入系统运行截图】</a:t>
            </a:r>
            <a:endParaRPr sz="14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20"/>
            </p:custDataLst>
          </p:nvPr>
        </p:nvSpPr>
        <p:spPr>
          <a:xfrm>
            <a:off x="6327648" y="5925312"/>
            <a:ext cx="5404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新建结算单→线下转账→确认出款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21"/>
            </p:custDataLst>
          </p:nvPr>
        </p:nvSpPr>
        <p:spPr>
          <a:xfrm>
            <a:off x="530352" y="1664207"/>
            <a:ext cx="5294376" cy="1371599"/>
          </a:xfrm>
          <a:prstGeom prst="rect">
            <a:avLst/>
          </a:prstGeom>
          <a:blipFill rotWithShape="1">
            <a:blip r:embed="rId22"/>
            <a:stretch>
              <a:fillRect/>
            </a:stretch>
          </a:blip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23"/>
            </p:custDataLst>
          </p:nvPr>
        </p:nvSpPr>
        <p:spPr>
          <a:xfrm>
            <a:off x="6382512" y="1664207"/>
            <a:ext cx="5294376" cy="1371599"/>
          </a:xfrm>
          <a:prstGeom prst="rect">
            <a:avLst/>
          </a:prstGeom>
          <a:blipFill rotWithShape="1">
            <a:blip r:embed="rId24"/>
            <a:stretch>
              <a:fillRect/>
            </a:stretch>
          </a:blip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>
            <p:custDataLst>
              <p:tags r:id="rId25"/>
            </p:custDataLst>
          </p:nvPr>
        </p:nvSpPr>
        <p:spPr>
          <a:xfrm>
            <a:off x="530352" y="4407408"/>
            <a:ext cx="5294376" cy="1371599"/>
          </a:xfrm>
          <a:prstGeom prst="rect">
            <a:avLst/>
          </a:prstGeom>
          <a:blipFill rotWithShape="1">
            <a:blip r:embed="rId26"/>
            <a:stretch>
              <a:fillRect/>
            </a:stretch>
          </a:blip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>
            <p:custDataLst>
              <p:tags r:id="rId27"/>
            </p:custDataLst>
          </p:nvPr>
        </p:nvSpPr>
        <p:spPr>
          <a:xfrm>
            <a:off x="6382512" y="4407408"/>
            <a:ext cx="5294376" cy="1371599"/>
          </a:xfrm>
          <a:prstGeom prst="rect">
            <a:avLst/>
          </a:prstGeom>
          <a:blipFill rotWithShape="1">
            <a:blip r:embed="rId28"/>
            <a:stretch>
              <a:fillRect/>
            </a:stretch>
          </a:blip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五、核心功能展示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5.2 移动端H5 - 合伙人端手机页面截图占位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13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2697480" cy="539496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1188720"/>
            <a:ext cx="868680" cy="109728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1371600"/>
            <a:ext cx="2459736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1371600"/>
            <a:ext cx="2459736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417320"/>
            <a:ext cx="2459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工作台 Home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【手机截图】
8核心KPI指标
8快捷功能入口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6072" y="5486400"/>
            <a:ext cx="2459736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18488" y="5879592"/>
            <a:ext cx="374904" cy="374904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0" y="1051560"/>
            <a:ext cx="2697480" cy="539496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1188720"/>
            <a:ext cx="868680" cy="109728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2152" y="1371600"/>
            <a:ext cx="2459736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2152" y="1371600"/>
            <a:ext cx="2459736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1417320"/>
            <a:ext cx="2459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倍投精算 Calculator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11880" y="347472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【手机截图】
策略选择/参数表单
5项结果推演表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502152" y="5486400"/>
            <a:ext cx="2459736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44568" y="5879592"/>
            <a:ext cx="374904" cy="374904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9360" y="1051560"/>
            <a:ext cx="2697480" cy="539496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23760" y="1188720"/>
            <a:ext cx="868680" cy="109728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28232" y="1371600"/>
            <a:ext cx="2459736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28232" y="1371600"/>
            <a:ext cx="2459736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1417320"/>
            <a:ext cx="2459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我的团队 Team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37960" y="347472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【手机截图】
团队总人数统计
下级合伙人列表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428232" y="5486400"/>
            <a:ext cx="2459736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70648" y="5879592"/>
            <a:ext cx="374904" cy="374904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35440" y="1051560"/>
            <a:ext cx="2697480" cy="539496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49840" y="1188720"/>
            <a:ext cx="868680" cy="109728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54312" y="1371600"/>
            <a:ext cx="2459736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54312" y="1371600"/>
            <a:ext cx="2459736" cy="5303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54312" y="1417320"/>
            <a:ext cx="2459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佣金明细 Commissions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464040" y="347472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【手机截图】
直推/团队Tag
待/已结算状态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354312" y="5486400"/>
            <a:ext cx="2459736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96728" y="5879592"/>
            <a:ext cx="374904" cy="374904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029968"/>
            <a:ext cx="2240280" cy="361188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11880" y="2029968"/>
            <a:ext cx="2240280" cy="361188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37960" y="2029968"/>
            <a:ext cx="2240280" cy="361188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64040" y="2029968"/>
            <a:ext cx="2240280" cy="361188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五、核心功能展示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5.3 典型业务流程 - 客户报备→结算出款（6步闭环）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14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1234440"/>
            <a:ext cx="1005840" cy="10058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353312"/>
            <a:ext cx="1005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8600" y="2423160"/>
            <a:ext cx="190195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2487168"/>
            <a:ext cx="1901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客户报备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" y="3063240"/>
            <a:ext cx="17556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合伙人移动端
提交客户报备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2148840" y="3127248"/>
            <a:ext cx="237744" cy="457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79191" y="1234440"/>
            <a:ext cx="1005840" cy="10058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1" y="1353312"/>
            <a:ext cx="1005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31136" y="2423160"/>
            <a:ext cx="190195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1136" y="2487168"/>
            <a:ext cx="1901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审核入库</a:t>
            </a:r>
            <a:endParaRPr sz="16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04288" y="3063240"/>
            <a:ext cx="17556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员工后台审核
通过后客户归属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4151375" y="3127248"/>
            <a:ext cx="237744" cy="457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81728" y="1234440"/>
            <a:ext cx="1005840" cy="10058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1353312"/>
            <a:ext cx="1005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33672" y="2423160"/>
            <a:ext cx="190195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33672" y="2487168"/>
            <a:ext cx="1901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交易产生流水</a:t>
            </a:r>
            <a:endParaRPr sz="16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06824" y="3063240"/>
            <a:ext cx="17556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录入流水(手输
或Excel批量导入)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6153912" y="3127248"/>
            <a:ext cx="237744" cy="457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84264" y="1234440"/>
            <a:ext cx="1005840" cy="10058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4264" y="1353312"/>
            <a:ext cx="1005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36208" y="2423160"/>
            <a:ext cx="190195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2487168"/>
            <a:ext cx="1901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自动算佣</a:t>
            </a:r>
            <a:endParaRPr sz="160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9360" y="3063240"/>
            <a:ext cx="17556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直推+团队佣金
事务原子更新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8156448" y="3127248"/>
            <a:ext cx="237744" cy="457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86800" y="1234440"/>
            <a:ext cx="1005840" cy="100584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1353312"/>
            <a:ext cx="1005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238744" y="2423160"/>
            <a:ext cx="190195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8744" y="2487168"/>
            <a:ext cx="1901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余额累积</a:t>
            </a:r>
            <a:endParaRPr sz="160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11896" y="3063240"/>
            <a:ext cx="17556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合伙人余额累积
移动端实时可查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ight Arrow 37"/>
          <p:cNvSpPr/>
          <p:nvPr/>
        </p:nvSpPr>
        <p:spPr>
          <a:xfrm>
            <a:off x="10158984" y="3127248"/>
            <a:ext cx="237744" cy="457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89335" y="1234440"/>
            <a:ext cx="1005840" cy="1005840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89335" y="1353312"/>
            <a:ext cx="1005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241280" y="2423160"/>
            <a:ext cx="190195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2487168"/>
            <a:ext cx="1901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E185D"/>
                </a:solidFill>
                <a:latin typeface="微软雅黑" panose="020B0503020204020204" charset="-122"/>
                <a:ea typeface="微软雅黑" panose="020B0503020204020204" charset="-122"/>
              </a:rPr>
              <a:t>结算出款</a:t>
            </a:r>
            <a:endParaRPr sz="1600" b="1">
              <a:solidFill>
                <a:srgbClr val="BE18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314432" y="3063240"/>
            <a:ext cx="175564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创建结算单
确认后扣减余额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11480" y="4709160"/>
            <a:ext cx="11338560" cy="169164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78231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参与角色协作时序：</a:t>
            </a:r>
            <a:endParaRPr sz="1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85800" y="52578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Step 01【合伙人】主动 → Step 02/03/05/06【员工/管理员】执行 → Step 04【系统自动】无需人工介入</a:t>
            </a:r>
            <a:endParaRPr sz="1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200"/>
              </a:spcBef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※ 核心流程中，佣金计算、余额更新、状态流转全部系统自动完成，做到"数据多跑路，人员少操作"</a:t>
            </a:r>
            <a:endParaRPr sz="12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六、测试与质量验证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6.1 测试方案 - 测试金字塔4层覆盖策略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15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49527" y="1143000"/>
            <a:ext cx="96926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49527" y="1143000"/>
            <a:ext cx="109728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5559" y="1207008"/>
            <a:ext cx="9235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顶层 - 前端页面测试    (18后台+16移动端 共34页面)</a:t>
            </a:r>
            <a:endParaRPr sz="14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05559" y="1600200"/>
            <a:ext cx="44805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方法：人工走查 + 边界值 + 权限拦截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3279" y="1600200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验证：表单校验 / 路由守卫 / 响应式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46807" y="2423160"/>
            <a:ext cx="7498079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6807" y="2423160"/>
            <a:ext cx="109728" cy="1097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2839" y="2487168"/>
            <a:ext cx="7040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中层 - API接口测试    (40+ RESTful API 全覆盖)</a:t>
            </a:r>
            <a:endParaRPr sz="14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02839" y="2880360"/>
            <a:ext cx="3383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方法：Postman 集合 + 断言脚本自动化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3279" y="2880360"/>
            <a:ext cx="35204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验证：Result结构校验 / DB数据一致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444087" y="370332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44087" y="3703320"/>
            <a:ext cx="109728" cy="1097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0119" y="37673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底层 - 单元测试    (佣金/倍投/匹配 3核心算法)</a:t>
            </a:r>
            <a:endParaRPr sz="1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00119" y="41605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方法：Jest 框架 + Prisma内存数据库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23279" y="41605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验证：核心函数覆盖率 100%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632807" y="4983479"/>
            <a:ext cx="29260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32807" y="4983479"/>
            <a:ext cx="109728" cy="10972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88839" y="504748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专项 - 事务一致性    (故障模拟专项测试)</a:t>
            </a:r>
            <a:endParaRPr sz="14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88839" y="5440679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方法：人为制造DB中途断连异常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23279" y="5440679"/>
            <a:ext cx="1234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验证：验证数据回滚完整性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11480" y="6309360"/>
            <a:ext cx="11338560" cy="347472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32764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统一Result结构(code/msg/data) · HTTP状态码语义化 · 前后端双重权限校验</a:t>
            </a:r>
            <a:endParaRPr sz="11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六、测试与质量验证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6.2 测试结果统计 - 28用例100%通过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16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2194560" cy="365760"/>
          </a:xfrm>
          <a:prstGeom prst="rect">
            <a:avLst/>
          </a:prstGeom>
          <a:solidFill>
            <a:srgbClr val="2563E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71016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测试分类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06040" y="1234440"/>
            <a:ext cx="914400" cy="365760"/>
          </a:xfrm>
          <a:prstGeom prst="rect">
            <a:avLst/>
          </a:prstGeom>
          <a:solidFill>
            <a:srgbClr val="2563E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27101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总用例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20440" y="1234440"/>
            <a:ext cx="914400" cy="365760"/>
          </a:xfrm>
          <a:prstGeom prst="rect">
            <a:avLst/>
          </a:prstGeom>
          <a:solidFill>
            <a:srgbClr val="2563E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27101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34840" y="1234440"/>
            <a:ext cx="914400" cy="365760"/>
          </a:xfrm>
          <a:prstGeom prst="rect">
            <a:avLst/>
          </a:prstGeom>
          <a:solidFill>
            <a:srgbClr val="2563E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27101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失败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49240" y="1234440"/>
            <a:ext cx="1097280" cy="365760"/>
          </a:xfrm>
          <a:prstGeom prst="rect">
            <a:avLst/>
          </a:prstGeom>
          <a:solidFill>
            <a:srgbClr val="2563E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1271016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通过率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1480" y="1600200"/>
            <a:ext cx="21945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1636776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认证模块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606040" y="160020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40" y="163677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20440" y="160020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163677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434840" y="160020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63677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349240" y="16002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1636776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11480" y="1965960"/>
            <a:ext cx="21945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002536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合伙人管理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06040" y="1965960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6040" y="200253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520440" y="1965960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200253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434840" y="1965960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200253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349240" y="19659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9240" y="2002536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11480" y="2331720"/>
            <a:ext cx="21945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2368296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客户管理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606040" y="233172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40" y="236829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520440" y="233172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236829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434840" y="233172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236829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349240" y="233172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49240" y="2368296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1480" y="2697479"/>
            <a:ext cx="21945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2734056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交易录入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606040" y="2697479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06040" y="27340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520440" y="2697479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20440" y="27340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434840" y="2697479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4840" y="27340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349240" y="26974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49240" y="2734056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11480" y="3063239"/>
            <a:ext cx="21945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3099815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佣金计算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606040" y="3063239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40" y="3099815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520440" y="3063239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20440" y="3099815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434840" y="3063239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34840" y="3099815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349240" y="30632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49240" y="3099815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11480" y="3428999"/>
            <a:ext cx="21945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3465575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结算管理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606040" y="3428999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06040" y="3465575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520440" y="3428999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0440" y="3465575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4434840" y="3428999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34840" y="3465575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5349240" y="34289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49240" y="3465575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11480" y="3794759"/>
            <a:ext cx="21945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3831335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方案赔率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2606040" y="3794759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40" y="3831335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3520440" y="3794759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520440" y="3831335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434840" y="3794759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34840" y="3831335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349240" y="37947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49240" y="3831335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11480" y="4160520"/>
            <a:ext cx="21945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1480" y="4197096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移动端功能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2606040" y="4160520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06040" y="419709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520440" y="4160520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20440" y="419709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434840" y="4160520"/>
            <a:ext cx="9144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34840" y="419709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349240" y="41605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49240" y="4197096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411480" y="4526280"/>
            <a:ext cx="21945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1480" y="4562856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其他功能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2606040" y="452628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606040" y="45628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3520440" y="452628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520440" y="45628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434840" y="452628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434840" y="456285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349240" y="452628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49240" y="4562856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411480" y="4892040"/>
            <a:ext cx="2194560" cy="365760"/>
          </a:xfrm>
          <a:prstGeom prst="rect">
            <a:avLst/>
          </a:prstGeom>
          <a:solidFill>
            <a:srgbClr val="1E40A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1480" y="4928616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合计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2606040" y="4892040"/>
            <a:ext cx="914400" cy="365760"/>
          </a:xfrm>
          <a:prstGeom prst="rect">
            <a:avLst/>
          </a:prstGeom>
          <a:solidFill>
            <a:srgbClr val="1E40A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06040" y="492861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3520440" y="4892040"/>
            <a:ext cx="914400" cy="365760"/>
          </a:xfrm>
          <a:prstGeom prst="rect">
            <a:avLst/>
          </a:prstGeom>
          <a:solidFill>
            <a:srgbClr val="1E40A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520440" y="492861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4434840" y="4892040"/>
            <a:ext cx="914400" cy="365760"/>
          </a:xfrm>
          <a:prstGeom prst="rect">
            <a:avLst/>
          </a:prstGeom>
          <a:solidFill>
            <a:srgbClr val="1E40A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434840" y="4928616"/>
            <a:ext cx="914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5349240" y="4892040"/>
            <a:ext cx="1097280" cy="365760"/>
          </a:xfrm>
          <a:prstGeom prst="rect">
            <a:avLst/>
          </a:prstGeom>
          <a:solidFill>
            <a:srgbClr val="1E40A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349240" y="4928616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Rounded Rectangle 118"/>
          <p:cNvSpPr/>
          <p:nvPr/>
        </p:nvSpPr>
        <p:spPr>
          <a:xfrm>
            <a:off x="6583680" y="1143000"/>
            <a:ext cx="52120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766560" y="120700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性能抽样测试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6766560" y="178308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766560" y="1892807"/>
            <a:ext cx="146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&lt; 300 ms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8321040" y="192024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首页数据大盘接口响应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6766560" y="2587752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766560" y="2697480"/>
            <a:ext cx="146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&lt; 2 s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321040" y="2724912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Excel 100条记录批量导入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6766560" y="3392424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766560" y="3502152"/>
            <a:ext cx="1463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&lt; 50 ms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8321040" y="3529584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倍投精算10期推演(前端)</a:t>
            </a:r>
            <a:endParaRPr sz="12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6583680" y="4023360"/>
            <a:ext cx="521208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766560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缺陷管理统计</a:t>
            </a:r>
            <a:endParaRPr sz="16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6766560" y="461772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766560" y="4846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7863840" y="487375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累计修复Bug数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6766560" y="5330952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766560" y="555955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 / 3 / 2 / 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7863840" y="558698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UI显示/接口/算法边界/兼容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6766560" y="6044184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766560" y="6272784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7863840" y="630021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当前遗留Bug数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六、测试与质量验证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6.3 项目文档交付体系（8份核心+8张UML）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17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1247120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编号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114300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文档名称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0" y="1143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规模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0" y="11430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主要内容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0" y="1143000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类别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1581912"/>
            <a:ext cx="731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6916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88720" y="1581912"/>
            <a:ext cx="29260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16916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项目启动书</a:t>
            </a:r>
            <a:endParaRPr sz="1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14800" y="1581912"/>
            <a:ext cx="914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69164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3页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0" y="1581912"/>
            <a:ext cx="5029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6916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立项背景、范围、里程碑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058400" y="1581912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20" y="16916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需求设计</a:t>
            </a:r>
            <a:endParaRPr sz="110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2116836"/>
            <a:ext cx="7315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226564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88720" y="2116836"/>
            <a:ext cx="292608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222656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需求规格说明书</a:t>
            </a:r>
            <a:endParaRPr sz="1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114800" y="2116836"/>
            <a:ext cx="9144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222656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14页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29200" y="2116836"/>
            <a:ext cx="50292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222656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角色定义、用例分析、原型描述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058400" y="2116836"/>
            <a:ext cx="16459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2226564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需求设计</a:t>
            </a:r>
            <a:endParaRPr sz="110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" y="2651760"/>
            <a:ext cx="731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7614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88720" y="2651760"/>
            <a:ext cx="29260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4440" y="276148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概要设计说明书</a:t>
            </a:r>
            <a:endParaRPr sz="1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114800" y="2651760"/>
            <a:ext cx="914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27614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18页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029200" y="2651760"/>
            <a:ext cx="5029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276148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架构设计、ER图、17张表结构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058400" y="2651760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04120" y="276148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设计开发</a:t>
            </a:r>
            <a:endParaRPr sz="1100" b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3186684"/>
            <a:ext cx="7315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29641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188720" y="3186684"/>
            <a:ext cx="292608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329641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详细设计说明书</a:t>
            </a:r>
            <a:endParaRPr sz="1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14800" y="3186684"/>
            <a:ext cx="9144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32964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13页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29200" y="3186684"/>
            <a:ext cx="50292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329641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算法伪代码、组件设计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058400" y="3186684"/>
            <a:ext cx="16459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04120" y="329641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设计开发</a:t>
            </a:r>
            <a:endParaRPr sz="1100" b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7200" y="3721608"/>
            <a:ext cx="731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83133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88720" y="3721608"/>
            <a:ext cx="29260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34440" y="3831336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测试报告</a:t>
            </a:r>
            <a:endParaRPr sz="1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114800" y="3721608"/>
            <a:ext cx="914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60520" y="3831336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9页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029200" y="3721608"/>
            <a:ext cx="5029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74920" y="383133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用例、结果、缺陷记录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0058400" y="3721608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04120" y="3831336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质量交付</a:t>
            </a:r>
            <a:endParaRPr sz="1100" b="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57200" y="4256532"/>
            <a:ext cx="7315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436626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188720" y="4256532"/>
            <a:ext cx="292608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34440" y="43662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用户手册</a:t>
            </a:r>
            <a:endParaRPr sz="1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114800" y="4256532"/>
            <a:ext cx="9144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60520" y="43662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15页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5029200" y="4256532"/>
            <a:ext cx="50292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74920" y="43662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三角色操作指南+FAQ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0058400" y="4256532"/>
            <a:ext cx="16459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04120" y="43662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质量交付</a:t>
            </a:r>
            <a:endParaRPr sz="1100" b="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457200" y="4791456"/>
            <a:ext cx="731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4901184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188720" y="4791456"/>
            <a:ext cx="29260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34440" y="490118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项目总结报告</a:t>
            </a:r>
            <a:endParaRPr sz="1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114800" y="4791456"/>
            <a:ext cx="914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60520" y="49011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10页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029200" y="4791456"/>
            <a:ext cx="5029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74920" y="490118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成果清单、经验总结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0058400" y="4791456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04120" y="4901184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质量交付</a:t>
            </a:r>
            <a:endParaRPr sz="1100" b="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57200" y="5326380"/>
            <a:ext cx="7315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54361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188720" y="5326380"/>
            <a:ext cx="292608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234440" y="543610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PlantUML图表源码</a:t>
            </a:r>
            <a:endParaRPr sz="1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114800" y="5326380"/>
            <a:ext cx="9144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60520" y="543610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8张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029200" y="5326380"/>
            <a:ext cx="502920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74920" y="543610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架构/ER/用例/时序/活动图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0058400" y="5326380"/>
            <a:ext cx="16459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04120" y="543610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建模</a:t>
            </a:r>
            <a:endParaRPr sz="1100" b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457200" y="594360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ECDFFF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600760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附加交付：partner_system.sql 完整建表脚本（含17表90+字段的中文注释）+ 初始化种子数据</a:t>
            </a:r>
            <a:endParaRPr sz="12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七、总结与展望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7.1 个人技术收获 - 三维能力全面提升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18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7947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143000"/>
            <a:ext cx="3794760" cy="7315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16152"/>
            <a:ext cx="3794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前端能力提升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3055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Vue3 Composition API</a:t>
            </a:r>
            <a:endParaRPr sz="13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251460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组合式API熟练掌握，响应式原理应用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4787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双UI库实战</a:t>
            </a:r>
            <a:endParaRPr sz="13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Element Plus(后台) + Vant4(移动端)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489204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6519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可视化/状态/请求</a:t>
            </a:r>
            <a:endParaRPr sz="13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ECharts5 配置、Pinia状态、Axios拦截器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79392" y="1143000"/>
            <a:ext cx="37947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79392" y="1143000"/>
            <a:ext cx="3794760" cy="7315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1216152"/>
            <a:ext cx="3794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后端能力提升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462272" y="205740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213055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Express中间件体系</a:t>
            </a:r>
            <a:endParaRPr sz="13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53712" y="251460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JWT鉴权、操作日志、CORS跨域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62272" y="347472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54787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Prisma ORM 深度</a:t>
            </a:r>
            <a:endParaRPr sz="13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53712" y="393192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关系建模、事务ACID、索引优化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462272" y="489204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496519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RESTful规范</a:t>
            </a:r>
            <a:endParaRPr sz="13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53712" y="534924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统一Result(code/msg/data)返回结构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193024" y="1143000"/>
            <a:ext cx="37947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93024" y="1143000"/>
            <a:ext cx="3794760" cy="7315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4" y="1216152"/>
            <a:ext cx="3794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软件工程能力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375904" y="205740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4" y="213055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全流程实践</a:t>
            </a:r>
            <a:endParaRPr sz="13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67344" y="251460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需求→设计→开发→测试→文档 全周期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375904" y="347472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67344" y="354787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数据库设计</a:t>
            </a:r>
            <a:endParaRPr sz="13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67344" y="393192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主键外键、索引优化、事务一致性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375904" y="4892040"/>
            <a:ext cx="3429000" cy="12801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67344" y="496519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建模+文档</a:t>
            </a:r>
            <a:endParaRPr sz="13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467344" y="534924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8张专业UML图 + 8份软件工程文档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七、总结与展望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7.2 项目创新点与亮点（5项）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19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09728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097280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53312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亮点①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37360" y="11430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二级分销合规双重约束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37360" y="1508760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合伙人表parent_id + 算法限制，数据层+业务层双重保证不超过二级，有效规避多级分销法律风险</a:t>
            </a:r>
            <a:endParaRPr sz="11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1480" y="2148839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2148839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04872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亮点②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37360" y="2194559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Excel四级智能匹配算法</a:t>
            </a:r>
            <a:endParaRPr sz="15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37360" y="2560320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完全相等→忽略大小写→去空格→包含关系，4级优先级解决昵称不一致问题，实测匹配率≥95%</a:t>
            </a:r>
            <a:endParaRPr sz="11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1480" y="3200399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3200399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456431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亮点③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37360" y="3246119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动态倍投精算赋能工具</a:t>
            </a:r>
            <a:endParaRPr sz="15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37360" y="3611879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业内3种主流策略(3倍投/2n+1/2倍投)全实现，实时推演+回本高亮，平台从"纯管理"升级为"赋能工具"</a:t>
            </a:r>
            <a:endParaRPr sz="11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1480" y="4251959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" y="4251959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07992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亮点④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37360" y="4297679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两阶段结算事务模型</a:t>
            </a:r>
            <a:endParaRPr sz="150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37360" y="4663440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创建结算单(pending) → 线下转账 → 确认结算(completed)，符合真实财务习惯，余额扣减时点精准控制</a:t>
            </a:r>
            <a:endParaRPr sz="11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11480" y="5303519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80" y="5303519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559551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亮点⑤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37360" y="5349239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</a:rPr>
              <a:t>三级权限前后双校验</a:t>
            </a:r>
            <a:endParaRPr sz="150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37360" y="5714999"/>
            <a:ext cx="9875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管理员/员工/合伙人菜单自动过滤，前端路由守卫 + 后端JWT中间件双重校验，最小权限原则落实</a:t>
            </a:r>
            <a:endParaRPr sz="11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89920" y="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七、总结与展望</a:t>
            </a:r>
            <a:endParaRPr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7.3 不足分析与改进方向规划</a:t>
            </a: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20 / 22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6601968"/>
            <a:ext cx="115671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601968"/>
            <a:ext cx="1280160" cy="137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当前不足之处</a:t>
            </a:r>
            <a:endParaRPr sz="17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1554480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554480"/>
            <a:ext cx="914400" cy="731520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373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不足1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消息推送能力缺失</a:t>
            </a:r>
            <a:endParaRPr sz="13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17320" y="192024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佣金到账/结算完成需主动查看，无推送触达不及时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11480" y="2395728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2395728"/>
            <a:ext cx="914400" cy="731520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5786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不足2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17320" y="24414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报表导出能力较弱</a:t>
            </a:r>
            <a:endParaRPr sz="13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7320" y="276148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仅有页面展示，缺Excel/PDF导出，财务做账仍手整理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1480" y="3236976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95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3236976"/>
            <a:ext cx="914400" cy="731520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419856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不足3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17320" y="328269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11D48"/>
                </a:solidFill>
                <a:latin typeface="微软雅黑" panose="020B0503020204020204" charset="-122"/>
                <a:ea typeface="微软雅黑" panose="020B0503020204020204" charset="-122"/>
              </a:rPr>
              <a:t>Redis缓存利用较浅</a:t>
            </a:r>
            <a:endParaRPr sz="1300" b="1">
              <a:solidFill>
                <a:srgbClr val="E11D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3602736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仅存Token，未用于热点数据缓存，性能仍有较大提升空间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未来改进方向 Roadmap</a:t>
            </a:r>
            <a:endParaRPr sz="17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11480" y="4800600"/>
            <a:ext cx="37947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800600"/>
            <a:ext cx="3794760" cy="4389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82803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高优先级 近期1-2月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108960" y="4846320"/>
            <a:ext cx="9144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48463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P0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消息推送：微信模板消息/站内信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报表通用导出模块(xlsx)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279392" y="4800600"/>
            <a:ext cx="37947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79392" y="4800600"/>
            <a:ext cx="3794760" cy="4389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9392" y="482803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中优先级 中期3-6月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976872" y="4846320"/>
            <a:ext cx="9144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76872" y="48463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P1</a:t>
            </a:r>
            <a:endParaRPr sz="1200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62272" y="5321808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热点数据(合伙人/赔率/字典)Redis缓存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大Excel异步导入+进度条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147304" y="4800600"/>
            <a:ext cx="37947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47304" y="4800600"/>
            <a:ext cx="3794760" cy="4389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47304" y="4828032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低优先级 远期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844784" y="4846320"/>
            <a:ext cx="9144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44784" y="48463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P2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30183" y="5321808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移动端PWA离线支持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· 基于操作日志的行为审计分析</a:t>
            </a:r>
            <a:endParaRPr sz="11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91440" cy="6217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97512" y="320040"/>
            <a:ext cx="91440" cy="6217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097280"/>
            <a:ext cx="5760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致    谢</a:t>
            </a:r>
            <a:endParaRPr sz="4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0" y="2286000"/>
            <a:ext cx="11887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8869680" cy="519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/>
            <a:endParaRPr dirty="0"/>
          </a:p>
          <a:p>
            <a:pPr algn="l">
              <a:spcBef>
                <a:spcPts val="2000"/>
              </a:spcBef>
              <a:spcAft>
                <a:spcPts val="800"/>
              </a:spcAft>
            </a:pPr>
            <a:r>
              <a:rPr sz="1900" b="1" dirty="0" err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衷心感谢指导教师</a:t>
            </a:r>
            <a:r>
              <a:rPr lang="en-US" sz="1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袁伟镇老师</a:t>
            </a:r>
            <a:endParaRPr sz="1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200"/>
              </a:spcBef>
              <a:spcAft>
                <a:spcPts val="2000"/>
              </a:spcAft>
            </a:pPr>
            <a:r>
              <a:rPr sz="1300" b="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sz="1300" b="0" dirty="0" err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在选题、架构设计、算法优化、文档规范等每一个关键环节都给予了悉心指导</a:t>
            </a:r>
            <a:r>
              <a:rPr sz="1300" b="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；
    </a:t>
            </a:r>
            <a:r>
              <a:rPr sz="1300" b="0" dirty="0" err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从需求评审到代码规范性检查，每一次反馈都使本项目质量得到显著提升</a:t>
            </a:r>
            <a:r>
              <a:rPr sz="1300" b="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00" b="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800"/>
              </a:spcAft>
            </a:pPr>
            <a:r>
              <a:rPr sz="1900" b="1" dirty="0" err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感谢软件工程专业全体授课老师</a:t>
            </a:r>
            <a:endParaRPr sz="1900" b="1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200"/>
              </a:spcBef>
              <a:spcAft>
                <a:spcPts val="2000"/>
              </a:spcAft>
            </a:pPr>
            <a:r>
              <a:rPr sz="1300" b="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sz="1300" b="0" dirty="0" err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软件工程、数据库系统、算法设计等课程，为项目开发提供了扎实的理论基础</a:t>
            </a:r>
            <a:r>
              <a:rPr sz="1300" b="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00" b="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500"/>
              </a:spcBef>
              <a:spcAft>
                <a:spcPts val="800"/>
              </a:spcAft>
            </a:pPr>
            <a:r>
              <a:rPr sz="1900" b="1" dirty="0" err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感谢学院提供课程设计实践平台</a:t>
            </a:r>
            <a:endParaRPr sz="1900" b="1" dirty="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200"/>
              </a:spcBef>
              <a:spcAft>
                <a:spcPts val="1500"/>
              </a:spcAft>
            </a:pPr>
            <a:r>
              <a:rPr sz="1300" b="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sz="1300" b="0" dirty="0" err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让我有机会将课本知识完整运用到实际项目，全面锻炼分析与解决问题的能力</a:t>
            </a:r>
            <a:r>
              <a:rPr sz="1300" b="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00" b="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sz="1300" b="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2500"/>
              </a:spcBef>
              <a:spcAft>
                <a:spcPts val="300"/>
              </a:spcAft>
            </a:pPr>
            <a:r>
              <a:rPr sz="2200" b="1" dirty="0" err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欢迎各位老师批评指正</a:t>
            </a:r>
            <a:r>
              <a:rPr sz="2200" b="1" dirty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！</a:t>
            </a:r>
            <a:endParaRPr sz="2200" b="1" dirty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答辩PPT · 私域合伙人裂变与分销核算系统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5029200"/>
            <a:ext cx="4572000" cy="4572000"/>
          </a:xfrm>
          <a:prstGeom prst="ellipse">
            <a:avLst/>
          </a:prstGeom>
          <a:solidFill>
            <a:srgbClr val="1D4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657600" cy="3657600"/>
          </a:xfrm>
          <a:prstGeom prst="ellipse">
            <a:avLst/>
          </a:prstGeom>
          <a:solidFill>
            <a:srgbClr val="1D4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2926080" cy="2926080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5920" y="1645920"/>
            <a:ext cx="8869680" cy="384048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8869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Q &amp; A</a:t>
            </a:r>
            <a:endParaRPr sz="6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0640" y="3154680"/>
            <a:ext cx="19202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383280"/>
            <a:ext cx="8869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问答环节</a:t>
            </a:r>
            <a:endParaRPr sz="28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4206240"/>
            <a:ext cx="8869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欢迎各位老师提问与指导</a:t>
            </a:r>
            <a:endParaRPr sz="16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45920" y="4937760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私域合伙人裂变与分销核算系统 | 软件工程综合实践答辩</a:t>
            </a:r>
            <a:endParaRPr sz="120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2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3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4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5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6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7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8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9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10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11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12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13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14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15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16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17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18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19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20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21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22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23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ags/tag24.xml><?xml version="1.0" encoding="utf-8"?>
<p:tagLst xmlns:p="http://schemas.openxmlformats.org/presentationml/2006/main">
  <p:tag name="KSO_WM_DIAGRAM_VIRTUALLY_FRAME" val="{&quot;height&quot;:417.6,&quot;left&quot;:28.8,&quot;top&quot;:86.4,&quot;width&quot;:903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6398</Words>
  <Application>WPS 演示</Application>
  <PresentationFormat>宽屏</PresentationFormat>
  <Paragraphs>947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Mr丶吴</cp:lastModifiedBy>
  <cp:revision>4</cp:revision>
  <dcterms:created xsi:type="dcterms:W3CDTF">2013-01-27T09:14:00Z</dcterms:created>
  <dcterms:modified xsi:type="dcterms:W3CDTF">2026-07-01T05:05:10Z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46E1E8E108A1407DA030F0C6A7747444_12</vt:lpwstr>
  </property>
</Properties>
</file>